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4af52433543b7" /><Relationship Type="http://schemas.openxmlformats.org/officeDocument/2006/relationships/extended-properties" Target="/docProps/app.xml" Id="Recc55aa935a34a15" /><Relationship Type="http://schemas.openxmlformats.org/officeDocument/2006/relationships/officeDocument" Target="/ppt/presentation.xml" Id="Rff67360da21c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cf27dd28f4a57"/>
  </p:sldMasterIdLst>
  <p:notesMasterIdLst>
    <p:notesMasterId xmlns:r="http://schemas.openxmlformats.org/officeDocument/2006/relationships" r:id="Re952a00e30a342ce"/>
  </p:notesMasterIdLst>
  <p:sldIdLst>
    <p:sldId xmlns:r="http://schemas.openxmlformats.org/officeDocument/2006/relationships" id="256" r:id="R35ad17a91c5249e3"/>
    <p:sldId xmlns:r="http://schemas.openxmlformats.org/officeDocument/2006/relationships" id="257" r:id="R76dd6e7ea4fb410d"/>
    <p:sldId xmlns:r="http://schemas.openxmlformats.org/officeDocument/2006/relationships" id="258" r:id="R92aa59f6ad524427"/>
    <p:sldId xmlns:r="http://schemas.openxmlformats.org/officeDocument/2006/relationships" id="259" r:id="R867095e2c4904ba6"/>
    <p:sldId xmlns:r="http://schemas.openxmlformats.org/officeDocument/2006/relationships" id="260" r:id="Rbb275fb5051b4b6c"/>
    <p:sldId xmlns:r="http://schemas.openxmlformats.org/officeDocument/2006/relationships" id="261" r:id="R172b8186b02f4f2d"/>
    <p:sldId xmlns:r="http://schemas.openxmlformats.org/officeDocument/2006/relationships" id="262" r:id="R5e43d3dafb024908"/>
    <p:sldId xmlns:r="http://schemas.openxmlformats.org/officeDocument/2006/relationships" id="263" r:id="R91c0c568ae414b1b"/>
    <p:sldId xmlns:r="http://schemas.openxmlformats.org/officeDocument/2006/relationships" id="264" r:id="R1d641ab188984aca"/>
    <p:sldId xmlns:r="http://schemas.openxmlformats.org/officeDocument/2006/relationships" id="265" r:id="R5fcedae258de4b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c17e1bb0b4aaf" /><Relationship Type="http://schemas.openxmlformats.org/officeDocument/2006/relationships/slideMaster" Target="/ppt/slideMasters/slideMaster1.xml" Id="R31ccf27dd28f4a57" /><Relationship Type="http://schemas.openxmlformats.org/officeDocument/2006/relationships/notesMaster" Target="/ppt/notesMasters/notesMaster1.xml" Id="Re952a00e30a342ce" /><Relationship Type="http://schemas.openxmlformats.org/officeDocument/2006/relationships/presProps" Target="/ppt/presProps.xml" Id="R67f1f547f16b4839" /><Relationship Type="http://schemas.openxmlformats.org/officeDocument/2006/relationships/tableStyles" Target="/ppt/tableStyles.xml" Id="R481c48d9c70648da" /><Relationship Type="http://schemas.openxmlformats.org/officeDocument/2006/relationships/slide" Target="/ppt/slides/slide1.xml" Id="R35ad17a91c5249e3" /><Relationship Type="http://schemas.openxmlformats.org/officeDocument/2006/relationships/slide" Target="/ppt/slides/slide2.xml" Id="R76dd6e7ea4fb410d" /><Relationship Type="http://schemas.openxmlformats.org/officeDocument/2006/relationships/slide" Target="/ppt/slides/slide3.xml" Id="R92aa59f6ad524427" /><Relationship Type="http://schemas.openxmlformats.org/officeDocument/2006/relationships/slide" Target="/ppt/slides/slide4.xml" Id="R867095e2c4904ba6" /><Relationship Type="http://schemas.openxmlformats.org/officeDocument/2006/relationships/slide" Target="/ppt/slides/slide5.xml" Id="Rbb275fb5051b4b6c" /><Relationship Type="http://schemas.openxmlformats.org/officeDocument/2006/relationships/slide" Target="/ppt/slides/slide6.xml" Id="R172b8186b02f4f2d" /><Relationship Type="http://schemas.openxmlformats.org/officeDocument/2006/relationships/slide" Target="/ppt/slides/slide7.xml" Id="R5e43d3dafb024908" /><Relationship Type="http://schemas.openxmlformats.org/officeDocument/2006/relationships/slide" Target="/ppt/slides/slide8.xml" Id="R91c0c568ae414b1b" /><Relationship Type="http://schemas.openxmlformats.org/officeDocument/2006/relationships/slide" Target="/ppt/slides/slide9.xml" Id="R1d641ab188984aca" /><Relationship Type="http://schemas.openxmlformats.org/officeDocument/2006/relationships/slide" Target="/ppt/slides/slide10.xml" Id="R5fcedae258de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fd0c8ed6440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0685507eca4a15" /><Relationship Type="http://schemas.openxmlformats.org/officeDocument/2006/relationships/notesMaster" Target="/ppt/notesMasters/notesMaster1.xml" Id="Ra2fad5b914ac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e256499bd491d" /><Relationship Type="http://schemas.openxmlformats.org/officeDocument/2006/relationships/notesMaster" Target="/ppt/notesMasters/notesMaster1.xml" Id="R45f572e80e58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7d01dae344d6d" /><Relationship Type="http://schemas.openxmlformats.org/officeDocument/2006/relationships/notesMaster" Target="/ppt/notesMasters/notesMaster1.xml" Id="Rff82883fedd94b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48a7c5c6994b50" /><Relationship Type="http://schemas.openxmlformats.org/officeDocument/2006/relationships/notesMaster" Target="/ppt/notesMasters/notesMaster1.xml" Id="R6cd9fafafc1d4e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cfc2b4c4c84806" /><Relationship Type="http://schemas.openxmlformats.org/officeDocument/2006/relationships/notesMaster" Target="/ppt/notesMasters/notesMaster1.xml" Id="R0a7c8feedd3d47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4dbb0721444fb" /><Relationship Type="http://schemas.openxmlformats.org/officeDocument/2006/relationships/notesMaster" Target="/ppt/notesMasters/notesMaster1.xml" Id="Rc7ede416d4c340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90b495c7dd4709" /><Relationship Type="http://schemas.openxmlformats.org/officeDocument/2006/relationships/notesMaster" Target="/ppt/notesMasters/notesMaster1.xml" Id="R90a4fe88030d46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84b12877384cca" /><Relationship Type="http://schemas.openxmlformats.org/officeDocument/2006/relationships/notesMaster" Target="/ppt/notesMasters/notesMaster1.xml" Id="R51b915fb353e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0ad38f33964f5c" /><Relationship Type="http://schemas.openxmlformats.org/officeDocument/2006/relationships/notesMaster" Target="/ppt/notesMasters/notesMaster1.xml" Id="R02135baee1ea4d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2a99f1a93b4410" /><Relationship Type="http://schemas.openxmlformats.org/officeDocument/2006/relationships/notesMaster" Target="/ppt/notesMasters/notesMaster1.xml" Id="R31141baf35d2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CriGestión no es una colección de pantallas, sino un sistema integrado que mantiene el ciclo empresarial coherente y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C:/dev/crigestion/README.md</a:t>
            </a:r>
          </a:p>
          <a:p xmlns:a="http://schemas.openxmlformats.org/drawingml/2006/main">
            <a:r>
              <a:t>- C:/dev/crigestion/docs/00-vision-general.md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valor aparece cuando un cambio de cliente, factura o cobro se refleja sin copias paralelas y con una evidencia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C:/dev/crigestion/docs/00-vision-general.md</a:t>
            </a:r>
          </a:p>
          <a:p xmlns:a="http://schemas.openxmlformats.org/drawingml/2006/main">
            <a:r>
              <a:t>- C:/dev/crigestion/docs/01-integraciones-transversales.md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los cuatro bloques sin enumerar pantallas. Señalar que las capacidades comparten reglas e identidades, pero cada módulo conserva su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C:/dev/crigestion/README.md</a:t>
            </a:r>
          </a:p>
          <a:p xmlns:a="http://schemas.openxmlformats.org/drawingml/2006/main">
            <a:r>
              <a:t>- C:/dev/crigestion/docs/02-mapa-modulos.md</a:t>
            </a:r>
          </a:p>
          <a:p xmlns:a="http://schemas.openxmlformats.org/drawingml/2006/main">
            <a:r>
              <a:t>- C:/dev/crigestion/docs/09-estado-implementacion.md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de una petición. Next.js concentra interfaz y API; el dominio mantiene reglas fuera de la UI; PostgreSQL es la fuente de verdad; los efectos externos se desacoplan mediante workers y outbox.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C:/dev/crigestion/docs/05-arquitectura-tecnica.md</a:t>
            </a:r>
          </a:p>
          <a:p xmlns:a="http://schemas.openxmlformats.org/drawingml/2006/main">
            <a:r>
              <a:t>- C:/dev/crigestion/docs/06-estructura-solucion-dotnet.md</a:t>
            </a:r>
          </a:p>
          <a:p xmlns:a="http://schemas.openxmlformats.org/drawingml/2006/main">
            <a:r>
              <a:t>- C:/dev/crigestion/docs/adr/ADR-0018-verifactu-adaptador.md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el hilo conductor de la demo. Destacar que el fallo de AEAT no deshace una emisión ya consolidada: se conserva el estado y se reintenta con idempotencia.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C:/dev/crigestion/docs/01-integraciones-transversales.md</a:t>
            </a:r>
          </a:p>
          <a:p xmlns:a="http://schemas.openxmlformats.org/drawingml/2006/main">
            <a:r>
              <a:t>- C:/dev/crigestion/docs/05-arquitectura-tecnica.md</a:t>
            </a:r>
          </a:p>
          <a:p xmlns:a="http://schemas.openxmlformats.org/drawingml/2006/main">
            <a:r>
              <a:t>- C:/dev/crigestion/docs/adr/ADR-0018-verifactu-adaptador.md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estas capturas como puente a la demostración en vivo. Indicar que la cuenta del tribunal está limitada a lectura y que la banda superior identifica claramente staging y AEAT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Capturas propias de https://gestion-test.crisoft.es realizadas el 2026-08-27</a:t>
            </a:r>
          </a:p>
          <a:p xmlns:a="http://schemas.openxmlformats.org/drawingml/2006/main">
            <a:r>
              <a:t>- C:/dev/crigestion/README.md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presentar seguridad como un módulo accesorio. Poner dos ejemplos concretos: el rol del tribunal recibe solo permisos de lectura y las credenciales VeriFactu nunca llegan al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C:/dev/crigestion/AGENTS.md</a:t>
            </a:r>
          </a:p>
          <a:p xmlns:a="http://schemas.openxmlformats.org/drawingml/2006/main">
            <a:r>
              <a:t>- C:/dev/crigestion/docs/seguridad/02-owasp-top-10.md</a:t>
            </a:r>
          </a:p>
          <a:p xmlns:a="http://schemas.openxmlformats.org/drawingml/2006/main">
            <a:r>
              <a:t>- C:/dev/crigestion/docs/05-arquitectura-tecnica.md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la evidencia de la promesa. Las 813 pruebas corresponden a la última regresión completa registrada; la release rc15 confirma además 159 migraciones y health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C:/dev/crigestion/docs/09-estado-implementacion.md</a:t>
            </a:r>
          </a:p>
          <a:p xmlns:a="http://schemas.openxmlformats.org/drawingml/2006/main">
            <a:r>
              <a:t>- C:/dev/crigestion/docs/plataforma/12-acta-uat-staging-2026-07-17.md</a:t>
            </a:r>
          </a:p>
          <a:p xmlns:a="http://schemas.openxmlformats.org/drawingml/2006/main">
            <a:r>
              <a:t>- C:/dev/crigestion/prisma/migrations/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 explícito: el objetivo de esta entrega es demostrar el núcleo operativo, no declarar finalizado todo el producto. Producción fiscal permanece deliberadamente bloqueada.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C:/dev/crigestion/README.md</a:t>
            </a:r>
          </a:p>
          <a:p xmlns:a="http://schemas.openxmlformats.org/drawingml/2006/main">
            <a:r>
              <a:t>- C:/dev/crigestion/docs/09-estado-implementacion.md</a:t>
            </a:r>
          </a:p>
          <a:p xmlns:a="http://schemas.openxmlformats.org/drawingml/2006/main">
            <a:r>
              <a:t>- C:/dev/crigestion/docs/04-alcance-mvp.md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volviendo a la tesis: una fuente de verdad, reglas de negocio explícitas y evidencia operativa. Dar paso a preguntas o a la demostración en vivo.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C:/dev/crigestion/README.md</a:t>
            </a:r>
          </a:p>
          <a:p xmlns:a="http://schemas.openxmlformats.org/drawingml/2006/main">
            <a:r>
              <a:t>- https://gestion-test.crisoft.es</a:t>
            </a:r>
          </a:p>
          <a:p xmlns:a="http://schemas.openxmlformats.org/drawingml/2006/main">
            <a:r>
              <a:t>- https://github.com/albertocs3/crigestion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cf264dd37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e9807f6c84696" /><Relationship Type="http://schemas.openxmlformats.org/officeDocument/2006/relationships/slideLayout" Target="/ppt/slideLayouts/slideLayout1.xml" Id="Rf7dbcd06c9d3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dbcd06c9d3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22f814c3d427a" /><Relationship Type="http://schemas.openxmlformats.org/officeDocument/2006/relationships/notesSlide" Target="/ppt/notesSlides/notesSlide1.xml" Id="R4b7a36f0513c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8d6cc448948df" /><Relationship Type="http://schemas.openxmlformats.org/officeDocument/2006/relationships/notesSlide" Target="/ppt/notesSlides/notesSlide2.xml" Id="Rf332a06193f848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fe81853c4fbc" /><Relationship Type="http://schemas.openxmlformats.org/officeDocument/2006/relationships/notesSlide" Target="/ppt/notesSlides/notesSlide3.xml" Id="Rc9eea38528a64f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a96271b08428d" /><Relationship Type="http://schemas.openxmlformats.org/officeDocument/2006/relationships/notesSlide" Target="/ppt/notesSlides/notesSlide4.xml" Id="R329db9a3592340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ed27a12da41b3" /><Relationship Type="http://schemas.openxmlformats.org/officeDocument/2006/relationships/notesSlide" Target="/ppt/notesSlides/notesSlide5.xml" Id="Rca8723ed9d2249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057f40ec54e66" /><Relationship Type="http://schemas.openxmlformats.org/officeDocument/2006/relationships/image" Target="/ppt/media/image.png" Id="Re2f859817be445fb" /><Relationship Type="http://schemas.openxmlformats.org/officeDocument/2006/relationships/image" Target="/ppt/media/image2.png" Id="R3147da5bce424279" /><Relationship Type="http://schemas.openxmlformats.org/officeDocument/2006/relationships/notesSlide" Target="/ppt/notesSlides/notesSlide6.xml" Id="Rf26da1ca8d88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44d78f0444a7" /><Relationship Type="http://schemas.openxmlformats.org/officeDocument/2006/relationships/notesSlide" Target="/ppt/notesSlides/notesSlide7.xml" Id="Re7c8780a0d374b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9b3682f1844fd" /><Relationship Type="http://schemas.openxmlformats.org/officeDocument/2006/relationships/notesSlide" Target="/ppt/notesSlides/notesSlide8.xml" Id="Rc398d746ec1742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fb2f36d1e4d66" /><Relationship Type="http://schemas.openxmlformats.org/officeDocument/2006/relationships/notesSlide" Target="/ppt/notesSlides/notesSlide9.xml" Id="R8b8d03b63c4f4e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84e125e841d6" /><Relationship Type="http://schemas.openxmlformats.org/officeDocument/2006/relationships/notesSlide" Target="/ppt/notesSlides/notesSlide10.xml" Id="Raadab120e3f842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840D3-0B96-407B-A8B7-018BD37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ADC06-1236-4D67-A174-EE80879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2">
                <a:solidFill>
                  <a:srgbClr val="6DCBF4"/>
                </a:solidFill>
              </a:defRPr>
            </a:pPr>
            <a:r>
              <a:rPr sz="975" b="1" i="0" spc="2">
                <a:solidFill>
                  <a:srgbClr val="6DCBF4"/>
                </a:solidFill>
              </a:rPr>
              <a:t>TRABAJO FIN DE MÁSTER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1C9FE-D64C-45BD-8F6B-DA859AEA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CriGestión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89992-A09A-4283-9B9E-2C7F1F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857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D4E6"/>
                </a:solidFill>
              </a:defRPr>
            </a:pPr>
            <a:r>
              <a:rPr sz="2025" b="1" i="0">
                <a:solidFill>
                  <a:srgbClr val="C8D4E6"/>
                </a:solidFill>
              </a:rPr>
              <a:t>Gestión empresarial integrada, segura y trazable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37EB1-EBF5-47CE-877F-206D0D5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8FA2BD"/>
                </a:solidFill>
              </a:defRPr>
            </a:pPr>
            <a:r>
              <a:rPr sz="1425" b="0" i="0">
                <a:solidFill>
                  <a:srgbClr val="8FA2BD"/>
                </a:solidFill>
              </a:rPr>
              <a:t>Una única fuente de verdad para conectar clientes, facturación, tesorería y contabilidad.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F963-3213-41E9-B96D-084C3E19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76350"/>
            <a:ext cx="2381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3241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16C18-1C1B-4F85-8423-751695C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76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91027-F0A7-44E1-AC23-075DDF2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525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3BB95-8D9D-4EA0-8E22-DA3F5CE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2381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3241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A8BEF-1B38-43A7-9F51-77F8A460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2A914-5B66-4B92-88BD-13F42B0F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432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C391-0003-49B5-8758-F8A96DA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23812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32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BBEEE-42BC-49D5-9453-FC972C11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46B22-D0F2-4F11-9006-A1013AA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910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TRAZABILIDAD</a:t>
            </a:r>
          </a:p>
        </p:txBody>
      </p: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191625" y="2114550"/>
            <a:ext cx="9144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81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8715375" y="3505200"/>
            <a:ext cx="13906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81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00655-ABDB-4ED3-B3A2-5E76D71A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1839D"/>
                </a:solidFill>
              </a:defRPr>
            </a:pPr>
            <a:r>
              <a:rPr sz="1200" b="0" i="0">
                <a:solidFill>
                  <a:srgbClr val="71839D"/>
                </a:solidFill>
              </a:rPr>
              <a:t>Máster de Desarrollo con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559827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0D294-E700-49D9-9C1A-62B3401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F95EA-114A-4AD9-84E4-CEFAAA4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31D30-D04C-4DDD-9E35-4B9B240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79B3D-07DC-49D5-9FF2-F745312C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El problema: datos fragmentados, decisiones tardías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E86ED-C66D-4643-A211-D0A12FE9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La fricción no está en una tarea aislada, sino en los traspasos entre áreas.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5FEC-710F-4965-ABFA-CFB2FC10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3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F78DE-DE5E-427B-8A30-7C49129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2">
                <a:solidFill>
                  <a:srgbClr val="C2415D"/>
                </a:solidFill>
              </a:defRPr>
            </a:pPr>
            <a:r>
              <a:rPr sz="975" b="1" i="0" spc="2">
                <a:solidFill>
                  <a:srgbClr val="C2415D"/>
                </a:solidFill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7663C-860E-487C-A830-EA79FDD4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70984-EB71-4F5F-8D39-74088CF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Información duplicada entre hojas y aplicaciones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1944F-05CE-42D6-A14C-4D9D2FC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634DC-7027-4534-8F8A-DE01D64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Conciliaciones manuales y estados incoherentes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7D7A4-3EFF-483C-84C4-F62F5934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2415D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B21C-DDFB-42ED-AAAF-9E040D2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Trazabilidad incompleta ante errores o auditorías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7DF5B-F538-445C-B0AE-C4BAB5D6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7625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47CAE-F86B-45F2-B452-90DE28C4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47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2">
                <a:solidFill>
                  <a:srgbClr val="087F74"/>
                </a:solidFill>
              </a:defRPr>
            </a:pPr>
            <a:r>
              <a:rPr sz="975" b="1" i="0" spc="2">
                <a:solidFill>
                  <a:srgbClr val="087F74"/>
                </a:solidFill>
              </a:rPr>
              <a:t>PROPUESTA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298B8-5396-41CA-AB7E-3BF10224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38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463C3-2020-49CE-84AD-3B9A8B8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Un dato maestro, compartido por todos los módulos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1C308-5051-4AA9-A8D8-8BF4411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ECFD1-7A7B-4764-82DC-4A71ABAD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Flujos transaccionales de extremo a extremo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9AC9E-67B7-4213-AE81-3F59DBBD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785EA-7405-434F-A053-36CFAC82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379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72A"/>
                </a:solidFill>
              </a:defRPr>
            </a:pPr>
            <a:r>
              <a:rPr sz="1500" b="0" i="0">
                <a:solidFill>
                  <a:srgbClr val="0B172A"/>
                </a:solidFill>
              </a:rPr>
              <a:t>Permisos, evidencias y auditoría desde el diseño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6BAB9-A9FA-4A02-915F-3331A12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6232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0F7AF-1A20-418E-A495-426B90E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671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818565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66454-23C7-4F3E-956B-E8F3873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D0E75-761D-4F7B-9325-E974490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C6FC2-A32A-4CCD-97DC-4C717D8F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1557E-E610-46DE-9155-7677D3A1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Un producto, cuatro capacidades conectadas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24810-5383-4AB4-AE05-7177EA7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El alcance funcional se organiza por responsabilidades, no por silos de datos.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FD670-6FAD-4302-960A-C48E52FE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334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515E5-7ECD-49C9-80E4-FAA99AE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F3F41-3AF8-499C-9FBC-DBB891B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1">
                <a:solidFill>
                  <a:srgbClr val="3D8DFF"/>
                </a:solidFill>
              </a:defRPr>
            </a:pPr>
            <a:r>
              <a:rPr sz="900" b="1" i="0" spc="1">
                <a:solidFill>
                  <a:srgbClr val="3D8DFF"/>
                </a:solidFill>
              </a:rPr>
              <a:t>CICLO 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6879D-11B3-400A-BD97-5EFF33C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Clientes · catálogo · facturación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5E090-3F34-4A06-96F2-C497F86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D6B82"/>
                </a:solidFill>
              </a:defRPr>
            </a:pPr>
            <a:r>
              <a:rPr sz="1200" b="0" i="0">
                <a:solidFill>
                  <a:srgbClr val="5D6B82"/>
                </a:solidFill>
              </a:rPr>
              <a:t>Maestros fiscales, productos, impuestos, facturas, vencimientos y cobros.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45EDA-483E-49D1-BF1A-5A33F5A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5334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17CA2-8D40-45C0-967F-9FC34BC6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92C78-0295-4B8E-973D-06C25085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1">
                <a:solidFill>
                  <a:srgbClr val="087F74"/>
                </a:solidFill>
              </a:defRPr>
            </a:pPr>
            <a:r>
              <a:rPr sz="900" b="1" i="0" spc="1">
                <a:solidFill>
                  <a:srgbClr val="087F74"/>
                </a:solidFill>
              </a:rPr>
              <a:t>CONTROL FINANCIERO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C2F9D-CC06-40B5-8E9D-AD1BDF70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Tesorería · contabilidad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6B8DF-4FFF-4421-8B5F-D5A5DCD7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D6B82"/>
                </a:solidFill>
              </a:defRPr>
            </a:pPr>
            <a:r>
              <a:rPr sz="1200" b="0" i="0">
                <a:solidFill>
                  <a:srgbClr val="5D6B82"/>
                </a:solidFill>
              </a:rPr>
              <a:t>Banca, conciliación, créditos, diario, ejercicios y cierres maker-checker.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01986-3D5C-4826-9617-02DDCEB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334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53176-7432-4361-9E56-CECD0E1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874F-C31E-43F7-8D13-369443AB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1">
                <a:solidFill>
                  <a:srgbClr val="F59E0B"/>
                </a:solidFill>
              </a:defRPr>
            </a:pPr>
            <a:r>
              <a:rPr sz="900" b="1" i="0" spc="1">
                <a:solidFill>
                  <a:srgbClr val="F59E0B"/>
                </a:solidFill>
              </a:rPr>
              <a:t>INGRESO RECURRENTE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1D4BD-CDC2-444E-862D-0141286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Suscripciones · renovaciones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0A634-5957-4B2D-8D89-AFF0AA4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D6B82"/>
                </a:solidFill>
              </a:defRPr>
            </a:pPr>
            <a:r>
              <a:rPr sz="1200" b="0" i="0">
                <a:solidFill>
                  <a:srgbClr val="5D6B82"/>
                </a:solidFill>
              </a:rPr>
              <a:t>Contratos, periodos, reactivaciones y facturación periódica supervisada.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7B45D-32D3-47AF-8664-2F4CD0E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5334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74F39-C6CD-40D4-BE4F-704EA83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D"/>
          </a:solidFill>
          <a:ln xmlns:a="http://schemas.openxmlformats.org/drawingml/2006/main" w="9525">
            <a:solidFill>
              <a:srgbClr val="C241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44E72-C516-44C5-AA5D-537990BB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1">
                <a:solidFill>
                  <a:srgbClr val="C2415D"/>
                </a:solidFill>
              </a:defRPr>
            </a:pPr>
            <a:r>
              <a:rPr sz="900" b="1" i="0" spc="1">
                <a:solidFill>
                  <a:srgbClr val="C2415D"/>
                </a:solidFill>
              </a:rPr>
              <a:t>OPERACIÓN Y GOBIERNO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46129-85AC-41EC-94AE-75368B7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Soporte · seguridad ·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81513-B3C8-43E2-9FE0-C393EEC7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D6B82"/>
                </a:solidFill>
              </a:defRPr>
            </a:pPr>
            <a:r>
              <a:rPr sz="1200" b="0" i="0">
                <a:solidFill>
                  <a:srgbClr val="5D6B82"/>
                </a:solidFill>
              </a:rPr>
              <a:t>Incidencias, SLA, roles, sesiones, evidencias y tareas operativas.</a:t>
            </a:r>
          </a:p>
        </p:txBody>
      </p:sp>
    </p:spTree>
    <p:extLst>
      <p:ext uri="{BB962C8B-B14F-4D97-AF65-F5344CB8AC3E}">
        <p14:creationId xmlns:p14="http://schemas.microsoft.com/office/powerpoint/2010/main" val="1145244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A5517-E7A3-4FE6-876F-CC8F144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170D9-442A-4A26-ADF0-785E772C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C723E-50D2-4467-9CC6-F8841D3D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CF2B7-1BCB-467C-BFB3-AB4F75A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Arquitectura: monolito modular con límites explícitos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0CC61-AB97-4357-AA27-04CC7575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Menos complejidad operativa, sin renunciar a seguridad ni evolución independiente.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68780-BC0C-49EA-A81A-084A96A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638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17AD1-D4EE-40F3-95D1-416BC1B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3812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7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31254-BAE0-4634-9B69-7F94E4C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23812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09DEC-4FFA-4FA6-9C4F-84BC9BE8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4574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9F7FF"/>
          </a:solidFill>
          <a:ln xmlns:a="http://schemas.openxmlformats.org/drawingml/2006/main" w="9525">
            <a:solidFill>
              <a:srgbClr val="D9CF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BE755-90CF-4FBE-84CA-F7B33D48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24574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1D9AD"/>
            </a:solidFill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3333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82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3333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420100" y="2628900"/>
            <a:ext cx="70485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74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20100" y="3333750"/>
            <a:ext cx="7048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ABC8C-2EB8-468D-A2CF-7D77B929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NAVEGADOR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FF9E2-EEDE-42A5-8A0F-A75DD4D8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UI operativa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FF2B-FD45-4BB2-B26D-9757D638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NEXT.JS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623DF-7913-4072-9BB1-C6D2D8F5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App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529D8-C827-45AA-AFFC-41204408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575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Server Components</a:t>
            </a:r>
          </a:p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Route Handlers</a:t>
            </a:r>
          </a:p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Zod + RBAC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D777A-B7C0-47BE-B75D-BFDDFE92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7F74"/>
                </a:solidFill>
              </a:defRPr>
            </a:pPr>
            <a:r>
              <a:rPr sz="900" b="1" i="0">
                <a:solidFill>
                  <a:srgbClr val="087F74"/>
                </a:solidFill>
              </a:rPr>
              <a:t>APLICACIÓN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9E2D8-A2CF-44A7-8DB7-A6B8AFF4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172A"/>
                </a:solidFill>
              </a:defRPr>
            </a:pPr>
            <a:r>
              <a:rPr sz="1800" b="1" i="0">
                <a:solidFill>
                  <a:srgbClr val="0B172A"/>
                </a:solidFill>
              </a:rPr>
              <a:t>Dominio modular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6B497-20F3-4362-8A5B-E3AA0854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Casos de uso</a:t>
            </a:r>
          </a:p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Transacciones</a:t>
            </a:r>
          </a:p>
          <a:p xmlns:a="http://schemas.openxmlformats.org/drawingml/2006/main">
            <a:pPr>
              <a:defRPr sz="1275" b="0" i="0">
                <a:solidFill>
                  <a:srgbClr val="5D6B82"/>
                </a:solidFill>
              </a:defRPr>
            </a:pPr>
            <a:r>
              <a:rPr sz="1275" b="0" i="0">
                <a:solidFill>
                  <a:srgbClr val="5D6B82"/>
                </a:solidFill>
              </a:rPr>
              <a:t>Auditoría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354E1-FF5E-4842-B1F5-46FA317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38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156B8"/>
                </a:solidFill>
              </a:defRPr>
            </a:pPr>
            <a:r>
              <a:rPr sz="900" b="1" i="0">
                <a:solidFill>
                  <a:srgbClr val="7156B8"/>
                </a:solidFill>
              </a:rPr>
              <a:t>POSTGRESQL + PRISMA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4FAF4-6DB6-4663-8CD6-F48FE1F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Fuente de verdad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84F24-765A-41B5-B6F8-C486E77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957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WORKERS + OUTBOX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DF660-6F69-42B6-B192-51FF995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48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72A"/>
                </a:solidFill>
              </a:defRPr>
            </a:pPr>
            <a:r>
              <a:rPr sz="1650" b="1" i="0">
                <a:solidFill>
                  <a:srgbClr val="0B172A"/>
                </a:solidFill>
              </a:rPr>
              <a:t>Procesamiento seguro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E5EE5-6B68-47AB-BA17-C9041F2D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5D6B82"/>
                </a:solidFill>
              </a:defRPr>
            </a:pPr>
            <a:r>
              <a:rPr sz="1350" b="0" i="1">
                <a:solidFill>
                  <a:srgbClr val="5D6B82"/>
                </a:solidFill>
              </a:rPr>
              <a:t>Secretos y certificados permanecen en servidor</a:t>
            </a:r>
          </a:p>
        </p:txBody>
      </p:sp>
    </p:spTree>
    <p:extLst>
      <p:ext uri="{BB962C8B-B14F-4D97-AF65-F5344CB8AC3E}">
        <p14:creationId xmlns:p14="http://schemas.microsoft.com/office/powerpoint/2010/main" val="1371196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325A5E-6CFE-438D-AF8A-645E7AB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AC19E-85E8-49F1-9D7F-909A3D9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E40CA-1A92-4FE9-8BFF-5D295E8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55420-D32D-49CE-892F-5169CA23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Un flujo integrado, cinco efectos coherentes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4E36D-DF3F-4FCA-863D-39259E7B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La emisión fiscal consolida negocio, contabilidad y trazabilidad sin perder reintentos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F3063-8A15-49E9-9BDB-002F1BC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828800" cy="2133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E4B63-816E-42F3-A85B-FFB6AB0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799FD-770E-4CED-906A-E0C4856A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75B63-E101-4AB5-A73C-6337EA35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Cliente y catálogo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A564-330C-4BA0-A265-22E53DF1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Datos fiscales, precios e impuestos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1C030-7ACD-4154-91E5-B0F54FA5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828800" cy="2133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F8D0F-A8F2-4311-BC1C-891203D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7E943-0FB6-4CE0-A7BE-C8EB6724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B4659-50F2-47B7-BA6E-EB08651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Factura emitida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BF525-2449-4A55-8B91-91DC4F4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814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Número, PDF y vencimientos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1AEE3-A0E1-4CD5-929B-FB9C3AD2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828800" cy="2133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068F5-2FD3-4B18-A1E1-00CD634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244A5-8EFC-4992-B2FC-486609B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4AD68-7271-4BB1-8D21-6933BF3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Tesorería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A931C-29D4-4704-B874-4637C293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814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Cobro, crédito y conciliación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8ED78-055F-448A-AC81-B0CDD5B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1828800" cy="2133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42363-329E-4BE1-BC4C-F01AEF9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02842-14C2-40C8-9C5E-43A0AE4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488BF-538C-409B-852D-2FB40257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Contabilidad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073E8-BBEA-4E50-9DA0-84510D8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Asiento y libro de 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C08A4-C669-40BD-8D60-CCBDECA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1828800" cy="2133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7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E917F-1BE5-4EC1-9937-CF5CE67A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3CEAF-B856-4584-96C8-3F00563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38C32-F585-4D76-ADDF-A7AA33C5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71850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72A"/>
                </a:solidFill>
              </a:defRPr>
            </a:pPr>
            <a:r>
              <a:rPr sz="1575" b="1" i="0">
                <a:solidFill>
                  <a:srgbClr val="0B172A"/>
                </a:solidFill>
              </a:rPr>
              <a:t>VeriFactu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45B52-0B3F-4CA7-B1E6-6B795A2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Outbox, envío y evidencia</a:t>
            </a:r>
          </a:p>
        </p:txBody>
      </p: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38400" y="35814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24400" y="35814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10400" y="35814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296400" y="35814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B9B2F-3DE7-4ED4-8B98-10F4777F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18312-8598-485D-807E-B18B50BF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87F74"/>
                </a:solidFill>
              </a:defRPr>
            </a:pPr>
            <a:r>
              <a:rPr sz="1275" b="1" i="0">
                <a:solidFill>
                  <a:srgbClr val="087F74"/>
                </a:solidFill>
              </a:rPr>
              <a:t>Si falla la comunicación externa, la factura permanece consolidada y el envío queda pendiente de reintento controlado.</a:t>
            </a:r>
          </a:p>
        </p:txBody>
      </p:sp>
    </p:spTree>
    <p:extLst>
      <p:ext uri="{BB962C8B-B14F-4D97-AF65-F5344CB8AC3E}">
        <p14:creationId xmlns:p14="http://schemas.microsoft.com/office/powerpoint/2010/main" val="1831716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277FE-6F48-45E1-B55B-210FC7BE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EF0F4-418D-4314-B468-C43A7B7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6E48-F618-445C-BEF0-1243B29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1C06-8E73-4A28-B987-4795DD5D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Producto operativo en entorno de evaluación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6CE2-9F04-466D-B5CE-12A35790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La misma sesión conecta navegación por módulos y seguimiento fiscal de facturas.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B4274-07B7-4076-B4BA-9FF9FF8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197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B4F54-EB8F-4F27-90CE-0FAD67B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2197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859817be445fb"/>
          <a:srcRect xmlns:a="http://schemas.openxmlformats.org/drawingml/2006/main" l="0" t="6535" r="0" b="6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19300"/>
            <a:ext cx="49911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7da5bce424279"/>
          <a:srcRect xmlns:a="http://schemas.openxmlformats.org/drawingml/2006/main" l="0" t="14474" r="0" b="1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019300"/>
            <a:ext cx="49911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A904-2E4C-4951-A53C-768FC7A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72A"/>
                </a:solidFill>
              </a:defRPr>
            </a:pPr>
            <a:r>
              <a:rPr sz="1275" b="1" i="0">
                <a:solidFill>
                  <a:srgbClr val="0B172A"/>
                </a:solidFill>
              </a:rPr>
              <a:t>9 módulos disponibles según permisos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B1EC6-67E9-4E8A-81C0-C9DEA28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72A"/>
                </a:solidFill>
              </a:defRPr>
            </a:pPr>
            <a:r>
              <a:rPr sz="1275" b="1" i="0">
                <a:solidFill>
                  <a:srgbClr val="0B172A"/>
                </a:solidFill>
              </a:rPr>
              <a:t>Estado documental, cobro y VeriFactu en una vista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223ED-B2DF-4FB0-9BB4-AAD446A4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D6B82"/>
                </a:solidFill>
              </a:defRPr>
            </a:pPr>
            <a:r>
              <a:rPr sz="1050" b="0" i="0">
                <a:solidFill>
                  <a:srgbClr val="5D6B82"/>
                </a:solidFill>
              </a:rPr>
              <a:t>Capturas reales de staging · cuenta de tribunal en solo lectura</a:t>
            </a:r>
          </a:p>
        </p:txBody>
      </p:sp>
    </p:spTree>
    <p:extLst>
      <p:ext uri="{BB962C8B-B14F-4D97-AF65-F5344CB8AC3E}">
        <p14:creationId xmlns:p14="http://schemas.microsoft.com/office/powerpoint/2010/main" val="809442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15B90-C1D2-4067-97BC-409D5B6D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6C2AC-B352-412A-9815-07C4A432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F1403-299B-4F8F-9177-A30E0A7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9433-9ABB-4150-824D-0A545396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Seguridad y trazabilidad como requisitos funcionales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7B0E-DA2D-40E3-B448-7097E95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Los controles se aplican en servidor y dejan evidencia sin exponer secretos.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ED1DE-DB00-40F5-B25F-EEA9BF2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857500" cy="3276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713CC-AEE9-455D-8E57-8562197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11811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CBE53-ED7D-44ED-B729-43819C53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479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6DC15-FB61-4F03-896E-0F6EFAF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DEFENSA EN</a:t>
            </a:r>
          </a:p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PROFUNDIDAD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E1CA4-09AC-4621-8162-563201F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907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17025-4395-4E75-B7AD-4F2EA54C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Sesiones seguras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703A6-61DB-4778-B1B8-9441D4FE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Cookie HttpOnly, Secure y SameSite; hash de token en base de datos.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BF03F-E95D-4E88-A521-4B445D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718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C8F0D-CDE0-448D-AC8A-A31BF0A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Permisos reales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DB3DF-EEF8-4175-8D21-4922E465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RBAC validado en servidor; ocultar botones nunca sustituye la autorización.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388BE-645C-4099-82BB-8B08144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56B11-CD0D-48D0-AA9B-44A86AC8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Mutaciones protegidas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84C50-307B-4565-9AB4-259B8EB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CSRF/origen, validación Zod, cuotas e idempotencia en operaciones sensibles.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45464-0265-400C-B035-151F3DB9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FC521-3777-4DCE-90E9-6C7B5387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Evidencia auditable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08FF8-5728-479A-8701-701FBB4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Acciones críticas, denegaciones y cambios quedan registrados sin secretos.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51BC1-CBB9-4DD2-8504-DA01BD9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529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FBB56-EA46-418C-836D-1AB30AB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Custodia server-side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E9413-C3C2-4836-9FB7-214D569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Certificados VeriFactu cifrados y fuera del navegador.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19131-5A00-4E94-8EDE-D6D88BA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AD455-60CE-4EED-B20C-FA65A3FB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72A"/>
                </a:solidFill>
              </a:defRPr>
            </a:pPr>
            <a:r>
              <a:rPr sz="1425" b="1" i="0">
                <a:solidFill>
                  <a:srgbClr val="0B172A"/>
                </a:solidFill>
              </a:rPr>
              <a:t>Integridad en PostgreSQL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6DCAA-F1E9-4B2C-ACE7-0D26B29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Restricciones, índices y evidencias append-only refuerzan invariantes.</a:t>
            </a:r>
          </a:p>
        </p:txBody>
      </p:sp>
    </p:spTree>
    <p:extLst>
      <p:ext uri="{BB962C8B-B14F-4D97-AF65-F5344CB8AC3E}">
        <p14:creationId xmlns:p14="http://schemas.microsoft.com/office/powerpoint/2010/main" val="1108019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6BE99-0E36-4AF6-B705-49186A62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BA1D5-5F95-4118-BC38-4AAAA8F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13B2F-190A-4443-B597-438BD675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E629D-AC65-4A76-84F6-C6844118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Evidencia de ingeniería y despliegue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EC4C1-70DD-41E0-8217-64F02055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El resultado se apoya en migraciones reproducibles, regresión automatizada y observabilidad.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3BECC-61FD-4D36-949A-7FC47B58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337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E4713-2ED4-46EC-88BB-573FE6BB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F315-408B-45DE-940B-DBFA39D3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B172A"/>
                </a:solidFill>
              </a:defRPr>
            </a:pPr>
            <a:r>
              <a:rPr sz="4050" b="1" i="0">
                <a:solidFill>
                  <a:srgbClr val="0B172A"/>
                </a:solidFill>
              </a:rPr>
              <a:t>159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8753B-33A6-42D7-A52B-F8592550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migraciones aplicadas</a:t>
            </a:r>
          </a:p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sin cambios pendientes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5EF5F-1D4A-4407-A6D3-3ED6B07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10E02-B846-47F8-924D-3CA88E13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0E730-6D46-4B44-9968-19ACA254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527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B172A"/>
                </a:solidFill>
              </a:defRPr>
            </a:pPr>
            <a:r>
              <a:rPr sz="4050" b="1" i="0">
                <a:solidFill>
                  <a:srgbClr val="0B172A"/>
                </a:solidFill>
              </a:rPr>
              <a:t>813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B28BF-FCAD-440C-9D8E-DEFF69B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09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pruebas de regresión</a:t>
            </a:r>
          </a:p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en la última suite completa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9F01C-92B8-4FD7-BAB1-EED36FC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3337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6AD02-46AB-46C2-B5E8-C287039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82428-FEAF-4132-BECA-2CA8C67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B172A"/>
                </a:solidFill>
              </a:defRPr>
            </a:pPr>
            <a:r>
              <a:rPr sz="4050" b="1" i="0">
                <a:solidFill>
                  <a:srgbClr val="0B172A"/>
                </a:solidFill>
              </a:rPr>
              <a:t>4/4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34850-D22D-413C-97C6-9C28BBA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componentes de health</a:t>
            </a:r>
          </a:p>
          <a:p xmlns:a="http://schemas.openxmlformats.org/drawingml/2006/main">
            <a:pPr>
              <a:defRPr sz="1350" b="1" i="0">
                <a:solidFill>
                  <a:srgbClr val="5D6B82"/>
                </a:solidFill>
              </a:defRPr>
            </a:pPr>
            <a:r>
              <a:rPr sz="1350" b="1" i="0">
                <a:solidFill>
                  <a:srgbClr val="5D6B82"/>
                </a:solidFill>
              </a:rPr>
              <a:t>en estado 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76E94-F0EC-442A-BA6B-3E228DE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9525">
            <a:solidFill>
              <a:srgbClr val="0B1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9A9DF-2D77-4DE4-B634-3368C385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9EB0C8"/>
                </a:solidFill>
              </a:defRPr>
            </a:pPr>
            <a:r>
              <a:rPr sz="1125" b="1" i="0">
                <a:solidFill>
                  <a:srgbClr val="9EB0C8"/>
                </a:solidFill>
              </a:rPr>
              <a:t>Release de evaluación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86C23-6055-496D-A111-62A3E029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staging-2026.08.27-rc15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66A02-88DF-497B-8C86-11E2C4F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482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DCBF4"/>
                </a:solidFill>
              </a:defRPr>
            </a:pPr>
            <a:r>
              <a:rPr sz="1500" b="1" i="0">
                <a:solidFill>
                  <a:srgbClr val="6DCBF4"/>
                </a:solidFill>
              </a:rPr>
              <a:t>VeriFactu: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94E0C-6CE7-498C-AEF9-D162B484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2"/>
                </a:solidFill>
              </a:defRPr>
            </a:pPr>
            <a:r>
              <a:rPr sz="1125" b="0" i="0">
                <a:solidFill>
                  <a:srgbClr val="5D6B82"/>
                </a:solidFill>
              </a:rPr>
              <a:t>Health: aplicación · PostgreSQL · VeriFactu · worker</a:t>
            </a:r>
          </a:p>
        </p:txBody>
      </p:sp>
    </p:spTree>
    <p:extLst>
      <p:ext uri="{BB962C8B-B14F-4D97-AF65-F5344CB8AC3E}">
        <p14:creationId xmlns:p14="http://schemas.microsoft.com/office/powerpoint/2010/main" val="1167340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6D260-6FE0-4FFF-94AA-A51435A0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D8138-1B28-49A6-A610-1D48E04B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5D6B82"/>
                </a:solidFill>
              </a:defRPr>
            </a:pPr>
            <a:r>
              <a:rPr sz="900" b="1" i="0" spc="2">
                <a:solidFill>
                  <a:srgbClr val="5D6B82"/>
                </a:solidFill>
              </a:rPr>
              <a:t>CRIGESTIÓN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3F3AE-9AD0-4610-AE49-1C1B17BA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D6B82"/>
                </a:solidFill>
              </a:defRPr>
            </a:pPr>
            <a:r>
              <a:rPr sz="900" b="1" i="0">
                <a:solidFill>
                  <a:srgbClr val="5D6B8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E3AEC-5943-45B0-B7B1-007DA79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B172A"/>
                </a:solidFill>
              </a:defRPr>
            </a:pPr>
            <a:r>
              <a:rPr sz="2850" b="1" i="0">
                <a:solidFill>
                  <a:srgbClr val="0B172A"/>
                </a:solidFill>
              </a:rPr>
              <a:t>Listo para evaluación; límites declarados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5D6B3-CC25-4505-9BD6-8B77E8B4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D6B82"/>
                </a:solidFill>
              </a:defRPr>
            </a:pPr>
            <a:r>
              <a:rPr sz="1350" b="0" i="0">
                <a:solidFill>
                  <a:srgbClr val="5D6B82"/>
                </a:solidFill>
              </a:rPr>
              <a:t>El alcance básico está cerrado sin presentar como terminadas capacidades que aún requieren trabajo.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A6F61-3715-4D43-B3C4-FDB082C0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B2E5A-C96D-4E01-8901-9C335A1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1">
                <a:solidFill>
                  <a:srgbClr val="087F74"/>
                </a:solidFill>
              </a:defRPr>
            </a:pPr>
            <a:r>
              <a:rPr sz="975" b="1" i="0" spc="1">
                <a:solidFill>
                  <a:srgbClr val="087F74"/>
                </a:solidFill>
              </a:rPr>
              <a:t>DISPONIBLE AHORA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0F0AA-D2CE-4C84-9E01-12E3155D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95741-E8E2-489F-A199-15DCB2D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Entorno staging desplegado y monitorizado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57545-0AE3-4E40-8A8F-3C2FB7E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6C350-2772-4F25-A41E-A36EDF8C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766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Cuenta de evaluación limitada 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F8151-3EA2-4B84-BF27-30576EA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C2D29-A47B-4DC1-A53E-D4F7F22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Ciclo de factura, cobro y contabilidad integrado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1E73E-E32B-4152-99EA-F663EEB8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4"/>
          </a:solidFill>
          <a:ln xmlns:a="http://schemas.openxmlformats.org/drawingml/2006/main" w="9525">
            <a:solidFill>
              <a:srgbClr val="087F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2B37E-C320-42A9-9504-FC11FCF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VeriFactu operativo exclusivamente en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5D260-D02F-42D9-8A49-152716CE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1D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B669F-B697-4573-B882-4DAD617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1">
                <a:solidFill>
                  <a:srgbClr val="F59E0B"/>
                </a:solidFill>
              </a:defRPr>
            </a:pPr>
            <a:r>
              <a:rPr sz="975" b="1" i="0" spc="1">
                <a:solidFill>
                  <a:srgbClr val="F59E0B"/>
                </a:solidFill>
              </a:rPr>
              <a:t>SIGUIENTES ENTREGAS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8DD82-599D-4F1B-9684-63C0826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D7B48-14A8-46C3-848E-EAA9211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Presupuestos y conversión a factura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B4444-82A9-4E21-8355-4D4B47B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52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0C73C-C59E-4D34-872E-7CD80F19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Informes y comunicaciones externas avanzadas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0467A-C1BC-46DE-B725-01CCAA9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9513E-78E3-4E79-8299-2F52DFE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Custodia externa inmutable y recuperación total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FF2E4-CCE8-42B3-8F0B-7E870B87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11096-2D1F-455E-9CCA-EDDD95B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5297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72A"/>
                </a:solidFill>
              </a:defRPr>
            </a:pPr>
            <a:r>
              <a:rPr sz="1425" b="0" i="0">
                <a:solidFill>
                  <a:srgbClr val="0B172A"/>
                </a:solidFill>
              </a:rPr>
              <a:t>Revisión independiente antes de producción fiscal</a:t>
            </a:r>
          </a:p>
        </p:txBody>
      </p:sp>
    </p:spTree>
    <p:extLst>
      <p:ext uri="{BB962C8B-B14F-4D97-AF65-F5344CB8AC3E}">
        <p14:creationId xmlns:p14="http://schemas.microsoft.com/office/powerpoint/2010/main" val="18630243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B5A11-72F1-4A27-B34D-BE1489B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A0DF-464E-4E1A-8C04-AD75BF86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 spc="2">
                <a:solidFill>
                  <a:srgbClr val="B7C4D8"/>
                </a:solidFill>
              </a:defRPr>
            </a:pPr>
            <a:r>
              <a:rPr sz="900" b="1" i="0" spc="2">
                <a:solidFill>
                  <a:srgbClr val="B7C4D8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009B1-63D4-4A1C-B4BA-C55BCA5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C4D8"/>
                </a:solidFill>
              </a:defRPr>
            </a:pPr>
            <a:r>
              <a:rPr sz="900" b="1" i="0">
                <a:solidFill>
                  <a:srgbClr val="B7C4D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7AAAE-91C1-4963-A2F7-A78CC3D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723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CriGestión convierte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operaciones dispersas</a:t>
            </a:r>
          </a:p>
          <a:p xmlns:a="http://schemas.openxmlformats.org/drawingml/2006/main">
            <a:pPr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en un sistema confiable.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FB891-A9BE-4204-8D29-86B43C11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DCBF4"/>
                </a:solidFill>
              </a:defRPr>
            </a:pPr>
            <a:r>
              <a:rPr sz="1650" b="1" i="0">
                <a:solidFill>
                  <a:srgbClr val="6DCBF4"/>
                </a:solidFill>
              </a:rPr>
              <a:t>Integración · seguridad · trazabilidad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C2FD4-F663-4455-93F5-58C4223C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144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3241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4E935-A939-4EAC-BC0B-76C8698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38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 spc="1">
                <a:solidFill>
                  <a:srgbClr val="6DCBF4"/>
                </a:solidFill>
              </a:defRPr>
            </a:pPr>
            <a:r>
              <a:rPr sz="975" b="1" i="0" spc="1">
                <a:solidFill>
                  <a:srgbClr val="6DCBF4"/>
                </a:solidFill>
              </a:rPr>
              <a:t>DEMOSTRACIÓN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24C2A-FD2C-4823-A8CB-4BAC479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8FA2BD"/>
                </a:solidFill>
              </a:defRPr>
            </a:pPr>
            <a:r>
              <a:rPr sz="1125" b="1" i="0">
                <a:solidFill>
                  <a:srgbClr val="8FA2BD"/>
                </a:solidFill>
              </a:rPr>
              <a:t>Aplicación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9A05F-3347-430F-817D-1560352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28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gestion-test.crisoft.es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2DB56-62E6-4C69-8553-AD7DEA5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8FA2BD"/>
                </a:solidFill>
              </a:defRPr>
            </a:pPr>
            <a:r>
              <a:rPr sz="1125" b="1" i="0">
                <a:solidFill>
                  <a:srgbClr val="8FA2BD"/>
                </a:solidFill>
              </a:rPr>
              <a:t>Código y documentación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B4FD3-55FC-403E-A834-44865B2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github.com/albertocs3/crigestion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CCF89-4B1F-4D96-A2A2-25882A9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64A"/>
          </a:solidFill>
          <a:ln xmlns:a="http://schemas.openxmlformats.org/drawingml/2006/main" w="9525">
            <a:solidFill>
              <a:srgbClr val="29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095F0-F171-4CE4-9355-F042F042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EB0C8"/>
                </a:solidFill>
              </a:defRPr>
            </a:pPr>
            <a:r>
              <a:rPr sz="1350" b="0" i="0">
                <a:solidFill>
                  <a:srgbClr val="9EB0C8"/>
                </a:solidFill>
              </a:rPr>
              <a:t>Siguiente paso: completar capacidades avanzadas manteniendo los mismos límites de seguridad y dominio.</a:t>
            </a:r>
          </a:p>
        </p:txBody>
      </p:sp>
    </p:spTree>
    <p:extLst>
      <p:ext uri="{BB962C8B-B14F-4D97-AF65-F5344CB8AC3E}">
        <p14:creationId xmlns:p14="http://schemas.microsoft.com/office/powerpoint/2010/main" val="2082952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2026-08-27T08:23:22.3140000Z</dcterms:created>
  <dcterms:modified xsi:type="dcterms:W3CDTF">2026-08-27T08:23:22.3140000Z</dcterms:modified>
</coreProperties>
</file>